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C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806440"/>
            <a:ext cx="12191695" cy="1051560"/>
          </a:xfrm>
          <a:prstGeom prst="rect">
            <a:avLst/>
          </a:prstGeom>
          <a:solidFill>
            <a:srgbClr val="1428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RESEARCH  ·  MACHINE LEARNING  ·  MICRO-EDM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Predicting Supporting-Boundary Circularity
at Any Tool Position in Lattice EDM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1148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B8C7D4"/>
                </a:solidFill>
                <a:latin typeface="Calibri"/>
              </a:rPr>
              <a:t>Physics-informed Gradient Boosting  ·  Gaussian Process data expansion  ·  SEM-validated outcomes
Interactive LatticeFlow analyzer for spatial circularity prediction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0350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Lattice Circularity Analyzer Project  ·  Premium Presentation Deck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21792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B8C7D4"/>
                </a:solidFill>
                <a:latin typeface="Calibri"/>
              </a:rPr>
              <a:t>What this presentation covers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371600"/>
            <a:ext cx="361188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371600"/>
            <a:ext cx="3611880" cy="109728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916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E7C86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488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1C2E"/>
                </a:solidFill>
                <a:latin typeface="Calibri"/>
              </a:rPr>
              <a:t>Problem &amp; Geometry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0604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D4F5F"/>
                </a:solidFill>
                <a:latin typeface="Calibri"/>
              </a:rPr>
              <a:t>Oversized tool on a fine lattice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60" y="1371600"/>
            <a:ext cx="361188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51960" y="1371600"/>
            <a:ext cx="3611880" cy="109728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0560" y="16916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E7C86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21488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1C2E"/>
                </a:solidFill>
                <a:latin typeface="Calibri"/>
              </a:rPr>
              <a:t>SEM Evidence &amp; Graphs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260604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D4F5F"/>
                </a:solidFill>
                <a:latin typeface="Calibri"/>
              </a:rPr>
              <a:t>16 runs, paradox, parameter effects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1371600"/>
            <a:ext cx="361188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92440" y="1371600"/>
            <a:ext cx="3611880" cy="109728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0" y="16916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E7C86"/>
                </a:solidFill>
                <a:latin typeface="Calibr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21488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1C2E"/>
                </a:solidFill>
                <a:latin typeface="Calibri"/>
              </a:rPr>
              <a:t>Ideation &amp; ML Pipeline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260604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D4F5F"/>
                </a:solidFill>
                <a:latin typeface="Calibri"/>
              </a:rPr>
              <a:t>How prediction becomes possible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3657600"/>
            <a:ext cx="361188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480" y="3657600"/>
            <a:ext cx="3611880" cy="109728"/>
          </a:xfrm>
          <a:prstGeom prst="rect">
            <a:avLst/>
          </a:prstGeom>
          <a:solidFill>
            <a:srgbClr val="D97A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9776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E7C86"/>
                </a:solidFill>
                <a:latin typeface="Calibri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4348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1C2E"/>
                </a:solidFill>
                <a:latin typeface="Calibri"/>
              </a:rPr>
              <a:t>Train · Validate · Infer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89204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D4F5F"/>
                </a:solidFill>
                <a:latin typeface="Calibri"/>
              </a:rPr>
              <a:t>Features, models, any-position path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51960" y="3657600"/>
            <a:ext cx="361188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51960" y="3657600"/>
            <a:ext cx="3611880" cy="109728"/>
          </a:xfrm>
          <a:prstGeom prst="rect">
            <a:avLst/>
          </a:prstGeom>
          <a:solidFill>
            <a:srgbClr val="D97A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80560" y="39776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E7C86"/>
                </a:solidFill>
                <a:latin typeface="Calibri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44348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1C2E"/>
                </a:solidFill>
                <a:latin typeface="Calibri"/>
              </a:rPr>
              <a:t>LatticeFlow Website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0" y="489204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D4F5F"/>
                </a:solidFill>
                <a:latin typeface="Calibri"/>
              </a:rPr>
              <a:t>Live analyzer UI walkthrough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92440" y="3657600"/>
            <a:ext cx="361188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92440" y="3657600"/>
            <a:ext cx="3611880" cy="109728"/>
          </a:xfrm>
          <a:prstGeom prst="rect">
            <a:avLst/>
          </a:prstGeom>
          <a:solidFill>
            <a:srgbClr val="D97A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21040" y="39776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E7C86"/>
                </a:solidFill>
                <a:latin typeface="Calibri"/>
              </a:rPr>
              <a:t>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1040" y="44348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1C2E"/>
                </a:solidFill>
                <a:latin typeface="Calibri"/>
              </a:rPr>
              <a:t>Final Answers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1040" y="489204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D4F5F"/>
                </a:solidFill>
                <a:latin typeface="Calibri"/>
              </a:rPr>
              <a:t>Recommended EDM settings by zone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8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6565392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3D4F5F"/>
                </a:solidFill>
                <a:latin typeface="Calibri"/>
              </a:rPr>
              <a:t>LatticeFlow  ·  EDM Circularity Research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0" y="6565392"/>
            <a:ext cx="21945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3D4F5F"/>
                </a:solidFill>
                <a:latin typeface="Calibri"/>
              </a:rPr>
              <a:t>2  / 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The Engineering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21792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B8C7D4"/>
                </a:solidFill>
                <a:latin typeface="Calibri"/>
              </a:rPr>
              <a:t>900 µm tool vs 235.6 µm pore — ratio 3.82×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280160"/>
            <a:ext cx="5394960" cy="4846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280160"/>
            <a:ext cx="109728" cy="484632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44475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C2E"/>
                </a:solidFill>
                <a:latin typeface="Calibri"/>
              </a:rPr>
              <a:t>What must succeed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783080"/>
            <a:ext cx="5074920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3D4F5F"/>
                </a:solidFill>
                <a:latin typeface="Calibri"/>
              </a:rPr>
              <a:t>▸  Unit cell side = 500 µm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3D4F5F"/>
                </a:solidFill>
                <a:latin typeface="Calibri"/>
              </a:rPr>
              <a:t>▸  Pore / node diameter ≈ 235.6 µm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3D4F5F"/>
                </a:solidFill>
                <a:latin typeface="Calibri"/>
              </a:rPr>
              <a:t>▸  Tool tip diameter = 900 µm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3D4F5F"/>
                </a:solidFill>
                <a:latin typeface="Calibri"/>
              </a:rPr>
              <a:t>▸  Tool overlaps pore + nodes + struts at once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3D4F5F"/>
                </a:solidFill>
                <a:latin typeface="Calibri"/>
              </a:rPr>
              <a:t>▸  Supporting ring (black) must stay continuous &amp; circular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3D4F5F"/>
                </a:solidFill>
                <a:latin typeface="Calibri"/>
              </a:rPr>
              <a:t>▸  Nodes (red) may be destroyed — acceptable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3D4F5F"/>
                </a:solidFill>
                <a:latin typeface="Calibri"/>
              </a:rPr>
              <a:t>▸  Need circularity ratio for ANY landing (x, y)</a:t>
            </a:r>
          </a:p>
        </p:txBody>
      </p:sp>
      <p:pic>
        <p:nvPicPr>
          <p:cNvPr id="10" name="Picture 9" descr="fig_geometry_ide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1325880"/>
            <a:ext cx="5760720" cy="5733547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8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565392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3D4F5F"/>
                </a:solidFill>
                <a:latin typeface="Calibri"/>
              </a:rPr>
              <a:t>LatticeFlow  ·  EDM Circularity Research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65392"/>
            <a:ext cx="21945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3D4F5F"/>
                </a:solidFill>
                <a:latin typeface="Calibri"/>
              </a:rPr>
              <a:t>3  / 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SEM Ground Truth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21792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B8C7D4"/>
                </a:solidFill>
                <a:latin typeface="Calibri"/>
              </a:rPr>
              <a:t>Only visual truth of supporting-boundary circularity</a:t>
            </a:r>
          </a:p>
        </p:txBody>
      </p:sp>
      <p:pic>
        <p:nvPicPr>
          <p:cNvPr id="6" name="Picture 5" descr="ACTUAL IMAGE OF THE 16 DATASETS 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43000"/>
            <a:ext cx="7589520" cy="10589265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138160" y="1280160"/>
            <a:ext cx="3657600" cy="4754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138160" y="1280160"/>
            <a:ext cx="3657600" cy="109728"/>
          </a:xfrm>
          <a:prstGeom prst="rect">
            <a:avLst/>
          </a:prstGeom>
          <a:solidFill>
            <a:srgbClr val="1B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21040" y="15544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F1C2E"/>
                </a:solidFill>
                <a:latin typeface="Calibri"/>
              </a:rPr>
              <a:t>Key finding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75320" y="2057400"/>
            <a:ext cx="33832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 b="0">
                <a:solidFill>
                  <a:srgbClr val="1B2A3A"/>
                </a:solidFill>
                <a:latin typeface="Calibri"/>
              </a:rPr>
              <a:t>▸  16 lab EDM trials imaged by SEM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1B2A3A"/>
                </a:solidFill>
                <a:latin typeface="Calibri"/>
              </a:rPr>
              <a:t>▸  ONLY Run 4 PASS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1B2A3A"/>
                </a:solidFill>
                <a:latin typeface="Calibri"/>
              </a:rPr>
              <a:t>▸  4 A · 150 µs · 80%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1B2A3A"/>
                </a:solidFill>
                <a:latin typeface="Calibri"/>
              </a:rPr>
              <a:t>▸  15 / 16 fail the ring test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1B2A3A"/>
                </a:solidFill>
                <a:latin typeface="Calibri"/>
              </a:rPr>
              <a:t>▸  SEM &gt; hole-deviation metrics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1B2A3A"/>
                </a:solidFill>
                <a:latin typeface="Calibri"/>
              </a:rPr>
              <a:t>▸  ML must maximize SEM circularity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8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565392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3D4F5F"/>
                </a:solidFill>
                <a:latin typeface="Calibri"/>
              </a:rPr>
              <a:t>LatticeFlow  ·  EDM Circularity Research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65392"/>
            <a:ext cx="21945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3D4F5F"/>
                </a:solidFill>
                <a:latin typeface="Calibri"/>
              </a:rPr>
              <a:t>4  / 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The Central Paradox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21792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B8C7D4"/>
                </a:solidFill>
                <a:latin typeface="Calibri"/>
              </a:rPr>
              <a:t>Best numerical deviation ≠ best supporting ring</a:t>
            </a:r>
          </a:p>
        </p:txBody>
      </p:sp>
      <p:pic>
        <p:nvPicPr>
          <p:cNvPr id="6" name="Picture 5" descr="fig_deviation_vs_circula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43000"/>
            <a:ext cx="5852160" cy="3188928"/>
          </a:xfrm>
          <a:prstGeom prst="rect">
            <a:avLst/>
          </a:prstGeom>
        </p:spPr>
      </p:pic>
      <p:pic>
        <p:nvPicPr>
          <p:cNvPr id="7" name="Picture 6" descr="fig_dev_score_rank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143000"/>
            <a:ext cx="5577840" cy="2404175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5760" y="5806440"/>
            <a:ext cx="11430000" cy="594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D97A0C"/>
                </a:solidFill>
                <a:latin typeface="Calibri"/>
              </a:rPr>
              <a:t>Run 5 (6 A, 50 µs, 64%) wins deviation ranking but FAILS SEM   ·   Run 4 (4 A, 150 µs, 80%) is near-worst by deviation yet is the ONLY PASS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8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65392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3D4F5F"/>
                </a:solidFill>
                <a:latin typeface="Calibri"/>
              </a:rPr>
              <a:t>LatticeFlow  ·  EDM Circularity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65392"/>
            <a:ext cx="21945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3D4F5F"/>
                </a:solidFill>
                <a:latin typeface="Calibri"/>
              </a:rPr>
              <a:t>5  / 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Experimental Graphs — Top/Bottom Deviation &amp; Asymmetry</a:t>
            </a:r>
          </a:p>
        </p:txBody>
      </p:sp>
      <p:pic>
        <p:nvPicPr>
          <p:cNvPr id="5" name="Picture 4" descr="fig_top_bottom_devi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43000"/>
            <a:ext cx="5852160" cy="2614043"/>
          </a:xfrm>
          <a:prstGeom prst="rect">
            <a:avLst/>
          </a:prstGeom>
        </p:spPr>
      </p:pic>
      <p:pic>
        <p:nvPicPr>
          <p:cNvPr id="6" name="Picture 5" descr="fig_asymmet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143000"/>
            <a:ext cx="5623560" cy="2365374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8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65392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3D4F5F"/>
                </a:solidFill>
                <a:latin typeface="Calibri"/>
              </a:rPr>
              <a:t>LatticeFlow  ·  EDM Circularity 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565392"/>
            <a:ext cx="21945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3D4F5F"/>
                </a:solidFill>
                <a:latin typeface="Calibri"/>
              </a:rPr>
              <a:t>6  / 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Parameter Effects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21792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B8C7D4"/>
                </a:solidFill>
                <a:latin typeface="Calibri"/>
              </a:rPr>
              <a:t>How current, pulse-on, and duty shape deviation</a:t>
            </a:r>
          </a:p>
        </p:txBody>
      </p:sp>
      <p:pic>
        <p:nvPicPr>
          <p:cNvPr id="6" name="Picture 5" descr="fig_param_effects_de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43000"/>
            <a:ext cx="5852160" cy="2468102"/>
          </a:xfrm>
          <a:prstGeom prst="rect">
            <a:avLst/>
          </a:prstGeom>
        </p:spPr>
      </p:pic>
      <p:pic>
        <p:nvPicPr>
          <p:cNvPr id="7" name="Picture 6" descr="fig_duty_effects_de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143000"/>
            <a:ext cx="5623560" cy="27787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8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65392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3D4F5F"/>
                </a:solidFill>
                <a:latin typeface="Calibri"/>
              </a:rPr>
              <a:t>LatticeFlow  ·  EDM Circularity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565392"/>
            <a:ext cx="21945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3D4F5F"/>
                </a:solidFill>
                <a:latin typeface="Calibri"/>
              </a:rPr>
              <a:t>7  / 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SEM Circularity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21792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B8C7D4"/>
                </a:solidFill>
                <a:latin typeface="Calibri"/>
              </a:rPr>
              <a:t>Pass/fail distribution across the DOE</a:t>
            </a:r>
          </a:p>
        </p:txBody>
      </p:sp>
      <p:pic>
        <p:nvPicPr>
          <p:cNvPr id="6" name="Picture 5" descr="fig_circularity_by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43000"/>
            <a:ext cx="5943600" cy="2498271"/>
          </a:xfrm>
          <a:prstGeom prst="rect">
            <a:avLst/>
          </a:prstGeom>
        </p:spPr>
      </p:pic>
      <p:pic>
        <p:nvPicPr>
          <p:cNvPr id="7" name="Picture 6" descr="fig_pass_fail_p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234440"/>
            <a:ext cx="5212080" cy="5060124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8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65392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3D4F5F"/>
                </a:solidFill>
                <a:latin typeface="Calibri"/>
              </a:rPr>
              <a:t>LatticeFlow  ·  EDM Circularity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565392"/>
            <a:ext cx="21945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3D4F5F"/>
                </a:solidFill>
                <a:latin typeface="Calibri"/>
              </a:rPr>
              <a:t>8  / 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Energy, Heatmap &amp; Process Responses</a:t>
            </a:r>
          </a:p>
        </p:txBody>
      </p:sp>
      <p:pic>
        <p:nvPicPr>
          <p:cNvPr id="5" name="Picture 4" descr="fig_energy_vs_circula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97280"/>
            <a:ext cx="3931920" cy="1963004"/>
          </a:xfrm>
          <a:prstGeom prst="rect">
            <a:avLst/>
          </a:prstGeom>
        </p:spPr>
      </p:pic>
      <p:pic>
        <p:nvPicPr>
          <p:cNvPr id="6" name="Picture 5" descr="fig_current_pulse_heat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0520" y="1097280"/>
            <a:ext cx="3840480" cy="2031863"/>
          </a:xfrm>
          <a:prstGeom prst="rect">
            <a:avLst/>
          </a:prstGeom>
        </p:spPr>
      </p:pic>
      <p:pic>
        <p:nvPicPr>
          <p:cNvPr id="7" name="Picture 6" descr="fig_mrr_tw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2440" y="1097280"/>
            <a:ext cx="3840480" cy="1538203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8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65392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3D4F5F"/>
                </a:solidFill>
                <a:latin typeface="Calibri"/>
              </a:rPr>
              <a:t>LatticeFlow  ·  EDM Circularity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565392"/>
            <a:ext cx="21945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3D4F5F"/>
                </a:solidFill>
                <a:latin typeface="Calibri"/>
              </a:rPr>
              <a:t>9  / 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Ideation — Working Mind of the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21792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B8C7D4"/>
                </a:solidFill>
                <a:latin typeface="Calibri"/>
              </a:rPr>
              <a:t>Circularity = process intensity × local geometry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280160"/>
            <a:ext cx="3657600" cy="4754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280160"/>
            <a:ext cx="109728" cy="475488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444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C2E"/>
                </a:solidFill>
                <a:latin typeface="Calibri"/>
              </a:rPr>
              <a:t>Idea 1 — SEM objective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783080"/>
            <a:ext cx="333756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3D4F5F"/>
                </a:solidFill>
                <a:latin typeface="Calibri"/>
              </a:rPr>
              <a:t>▸  Train on supporting-ring circularity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3D4F5F"/>
                </a:solidFill>
                <a:latin typeface="Calibri"/>
              </a:rPr>
              <a:t>▸  Do NOT minimize Hole_Dev alone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3D4F5F"/>
                </a:solidFill>
                <a:latin typeface="Calibri"/>
              </a:rPr>
              <a:t>▸  Run 5 is the wrong optimum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3D4F5F"/>
                </a:solidFill>
                <a:latin typeface="Calibri"/>
              </a:rPr>
              <a:t>▸  Run 4 is the reference success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1280160"/>
            <a:ext cx="3657600" cy="4754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51960" y="1280160"/>
            <a:ext cx="109728" cy="4754880"/>
          </a:xfrm>
          <a:prstGeom prst="rect">
            <a:avLst/>
          </a:prstGeom>
          <a:solidFill>
            <a:srgbClr val="D97A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7992" y="1444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C2E"/>
                </a:solidFill>
                <a:latin typeface="Calibri"/>
              </a:rPr>
              <a:t>Idea 2 — Geometry features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3128" y="1783080"/>
            <a:ext cx="333756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3D4F5F"/>
                </a:solidFill>
                <a:latin typeface="Calibri"/>
              </a:rPr>
              <a:t>▸  Tool footprint vs struts/nodes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3D4F5F"/>
                </a:solidFill>
                <a:latin typeface="Calibri"/>
              </a:rPr>
              <a:t>▸  Distances, overlaps, intersection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3D4F5F"/>
                </a:solidFill>
                <a:latin typeface="Calibri"/>
              </a:rPr>
              <a:t>▸  Geometry risk index ∈ [0,1]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3D4F5F"/>
                </a:solidFill>
                <a:latin typeface="Calibri"/>
              </a:rPr>
              <a:t>▸  Same recipe, different (x,y) outcome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280160"/>
            <a:ext cx="3657600" cy="4754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38160" y="1280160"/>
            <a:ext cx="109728" cy="4754880"/>
          </a:xfrm>
          <a:prstGeom prst="rect">
            <a:avLst/>
          </a:prstGeom>
          <a:solidFill>
            <a:srgbClr val="1B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94192" y="1444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C2E"/>
                </a:solidFill>
                <a:latin typeface="Calibri"/>
              </a:rPr>
              <a:t>Idea 3 — Sparse-data expansion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8" y="1783080"/>
            <a:ext cx="333756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3D4F5F"/>
                </a:solidFill>
                <a:latin typeface="Calibri"/>
              </a:rPr>
              <a:t>▸  GP posterior → 1,100 EDM synthetics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3D4F5F"/>
                </a:solidFill>
                <a:latin typeface="Calibri"/>
              </a:rPr>
              <a:t>▸  16 × landing grid → ~400 rows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3D4F5F"/>
                </a:solidFill>
                <a:latin typeface="Calibri"/>
              </a:rPr>
              <a:t>▸  Risk-modulated SEM label replay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3D4F5F"/>
                </a:solidFill>
                <a:latin typeface="Calibri"/>
              </a:rPr>
              <a:t>▸  Physics blend at inference time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8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6565392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3D4F5F"/>
                </a:solidFill>
                <a:latin typeface="Calibri"/>
              </a:rPr>
              <a:t>LatticeFlow  ·  EDM Circularity Research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65392"/>
            <a:ext cx="21945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3D4F5F"/>
                </a:solidFill>
                <a:latin typeface="Calibri"/>
              </a:rPr>
              <a:t>10  / 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End-to-End Prediction Pipeline</a:t>
            </a:r>
          </a:p>
        </p:txBody>
      </p:sp>
      <p:pic>
        <p:nvPicPr>
          <p:cNvPr id="5" name="Picture 4" descr="fig_ml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43000"/>
            <a:ext cx="11338560" cy="674509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8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65392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3D4F5F"/>
                </a:solidFill>
                <a:latin typeface="Calibri"/>
              </a:rPr>
              <a:t>LatticeFlow  ·  EDM Circularity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65392"/>
            <a:ext cx="21945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3D4F5F"/>
                </a:solidFill>
                <a:latin typeface="Calibri"/>
              </a:rPr>
              <a:t>11  / 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From 16 Experiments to Trainable Data</a:t>
            </a:r>
          </a:p>
        </p:txBody>
      </p:sp>
      <p:pic>
        <p:nvPicPr>
          <p:cNvPr id="5" name="Picture 4" descr="fig_data_expan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43000"/>
            <a:ext cx="11155680" cy="4652123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4114800"/>
            <a:ext cx="1124712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4297680"/>
            <a:ext cx="107899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 b="0">
                <a:solidFill>
                  <a:srgbClr val="1B2A3A"/>
                </a:solidFill>
                <a:latin typeface="Calibri"/>
              </a:rPr>
              <a:t>▸  Augmentation A: Gaussian Process posterior sampling densifies (I, T, D) space → 1,100 synthetics (tagged GP_posterior; not new lab trials)</a:t>
            </a:r>
          </a:p>
          <a:p>
            <a:pPr>
              <a:spcAft>
                <a:spcPts val="700"/>
              </a:spcAft>
            </a:pPr>
            <a:r>
              <a:rPr sz="1500" b="0">
                <a:solidFill>
                  <a:srgbClr val="1B2A3A"/>
                </a:solidFill>
                <a:latin typeface="Calibri"/>
              </a:rPr>
              <a:t>▸  Augmentation B: each SEM label replayed on ~25 landings → c_train = clip(c_SEM − 2.5·geometry_risk + edm_bonus, 1, 5)</a:t>
            </a:r>
          </a:p>
          <a:p>
            <a:pPr>
              <a:spcAft>
                <a:spcPts val="700"/>
              </a:spcAft>
            </a:pPr>
            <a:r>
              <a:rPr sz="1500" b="0">
                <a:solidFill>
                  <a:srgbClr val="1B2A3A"/>
                </a:solidFill>
                <a:latin typeface="Calibri"/>
              </a:rPr>
              <a:t>▸  Result: models learn that gentle recipes degrade when the oversized tool sits on dense strut intersections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8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65392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3D4F5F"/>
                </a:solidFill>
                <a:latin typeface="Calibri"/>
              </a:rPr>
              <a:t>LatticeFlow  ·  EDM Circularity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565392"/>
            <a:ext cx="21945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3D4F5F"/>
                </a:solidFill>
                <a:latin typeface="Calibri"/>
              </a:rPr>
              <a:t>12  / 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Machine Learning Detail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21792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B8C7D4"/>
                </a:solidFill>
                <a:latin typeface="Calibri"/>
              </a:rPr>
              <a:t>Features · models · train · validate · blend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1234440"/>
            <a:ext cx="3794760" cy="4937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109728" cy="493776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6072" y="1399032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C2E"/>
                </a:solidFill>
                <a:latin typeface="Calibri"/>
              </a:rPr>
              <a:t>20-D Feature Vector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" y="1737360"/>
            <a:ext cx="347472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3D4F5F"/>
                </a:solidFill>
                <a:latin typeface="Calibri"/>
              </a:rPr>
              <a:t>▸  EDM (7): I, T, D, Energy, pulse-off, I·D, T/D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3D4F5F"/>
                </a:solidFill>
                <a:latin typeface="Calibri"/>
              </a:rPr>
              <a:t>▸  Geometry (13): x/W, y/W, distances,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3D4F5F"/>
                </a:solidFill>
                <a:latin typeface="Calibri"/>
              </a:rPr>
              <a:t>▸  nodes/pores in tool, strut length,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3D4F5F"/>
                </a:solidFill>
                <a:latin typeface="Calibri"/>
              </a:rPr>
              <a:t>▸  overlaps, geometry risk, ratio, W, tool Ø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3D4F5F"/>
                </a:solidFill>
                <a:latin typeface="Calibri"/>
              </a:rPr>
              <a:t>▸  Targets: score 1–5 + support 0/1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3D4F5F"/>
                </a:solidFill>
                <a:latin typeface="Calibri"/>
              </a:rPr>
              <a:t>▸  Ratio reported as score / 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1234440"/>
            <a:ext cx="3794760" cy="4937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51960" y="1234440"/>
            <a:ext cx="109728" cy="4937760"/>
          </a:xfrm>
          <a:prstGeom prst="rect">
            <a:avLst/>
          </a:prstGeom>
          <a:solidFill>
            <a:srgbClr val="D97A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7992" y="1399032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C2E"/>
                </a:solidFill>
                <a:latin typeface="Calibri"/>
              </a:rPr>
              <a:t>Algorithms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3128" y="1737360"/>
            <a:ext cx="347472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3D4F5F"/>
                </a:solidFill>
                <a:latin typeface="Calibri"/>
              </a:rPr>
              <a:t>▸  GBR circularity: 120 trees, depth 4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3D4F5F"/>
                </a:solidFill>
                <a:latin typeface="Calibri"/>
              </a:rPr>
              <a:t>▸  GBR supporting: 80 trees, depth 3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3D4F5F"/>
                </a:solidFill>
                <a:latin typeface="Calibri"/>
              </a:rPr>
              <a:t>▸  GP Matérn 5/2 + WhiteKernel on 16 SEM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3D4F5F"/>
                </a:solidFill>
                <a:latin typeface="Calibri"/>
              </a:rPr>
              <a:t>▸  Ridge poly LOOCV → MAE ≈ 1.02 / 5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3D4F5F"/>
                </a:solidFill>
                <a:latin typeface="Calibri"/>
              </a:rPr>
              <a:t>▸  Shallow trees limit small-n overfitting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3D4F5F"/>
                </a:solidFill>
                <a:latin typeface="Calibri"/>
              </a:rPr>
              <a:t>▸  GP ranks μ + 0.15·σ candidates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79" y="1234440"/>
            <a:ext cx="3657600" cy="4937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83879" y="1234440"/>
            <a:ext cx="109728" cy="4937760"/>
          </a:xfrm>
          <a:prstGeom prst="rect">
            <a:avLst/>
          </a:prstGeom>
          <a:solidFill>
            <a:srgbClr val="1B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39911" y="139903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C2E"/>
                </a:solidFill>
                <a:latin typeface="Calibri"/>
              </a:rPr>
              <a:t>Inference Blend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5047" y="1737360"/>
            <a:ext cx="33375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3D4F5F"/>
                </a:solidFill>
                <a:latin typeface="Calibri"/>
              </a:rPr>
              <a:t>▸  c = (1−w)·c_ML + w·c_H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3D4F5F"/>
                </a:solidFill>
                <a:latin typeface="Calibri"/>
              </a:rPr>
              <a:t>▸  w rises if tool/pore drifts from lab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3D4F5F"/>
                </a:solidFill>
                <a:latin typeface="Calibri"/>
              </a:rPr>
              <a:t>▸  Heuristic encodes gentle vs blast rules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3D4F5F"/>
                </a:solidFill>
                <a:latin typeface="Calibri"/>
              </a:rPr>
              <a:t>▸  PASS: c≥3.5, support OK, risk≤0.55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3D4F5F"/>
                </a:solidFill>
                <a:latin typeface="Calibri"/>
              </a:rPr>
              <a:t>▸  Consistency tests replace huge holdout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3D4F5F"/>
                </a:solidFill>
                <a:latin typeface="Calibri"/>
              </a:rPr>
              <a:t>▸  SEM remains ultimate acceptance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8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6565392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3D4F5F"/>
                </a:solidFill>
                <a:latin typeface="Calibri"/>
              </a:rPr>
              <a:t>LatticeFlow  ·  EDM Circularity Research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65392"/>
            <a:ext cx="21945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3D4F5F"/>
                </a:solidFill>
                <a:latin typeface="Calibri"/>
              </a:rPr>
              <a:t>13  / 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Predict Circularity Ratio for Any 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21792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B8C7D4"/>
                </a:solidFill>
                <a:latin typeface="Calibri"/>
              </a:rPr>
              <a:t>Runtime path for query (I, T, D, x, y)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325880"/>
            <a:ext cx="370332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94360" y="1645920"/>
            <a:ext cx="502920" cy="502920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709928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16916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1C2E"/>
                </a:solidFill>
                <a:latin typeface="Calibri"/>
              </a:rPr>
              <a:t>Geometry 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37744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D4F5F"/>
                </a:solidFill>
                <a:latin typeface="Calibri"/>
              </a:rPr>
              <a:t>analyze_position(x,y) → risk &amp; overlaps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60" y="1325880"/>
            <a:ext cx="370332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480560" y="1645920"/>
            <a:ext cx="502920" cy="502920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0560" y="1709928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66360" y="16916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1C2E"/>
                </a:solidFill>
                <a:latin typeface="Calibri"/>
              </a:rPr>
              <a:t>Feature build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237744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D4F5F"/>
                </a:solidFill>
                <a:latin typeface="Calibri"/>
              </a:rPr>
              <a:t>Concatenate 7 EDM + 13 geometry = 20-D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1325880"/>
            <a:ext cx="370332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66760" y="1645920"/>
            <a:ext cx="502920" cy="502920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66760" y="1709928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52560" y="16916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1C2E"/>
                </a:solidFill>
                <a:latin typeface="Calibri"/>
              </a:rPr>
              <a:t>ML forward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237744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D4F5F"/>
                </a:solidFill>
                <a:latin typeface="Calibri"/>
              </a:rPr>
              <a:t>GBR score + supporting probability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3703320"/>
            <a:ext cx="370332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4360" y="4023360"/>
            <a:ext cx="502920" cy="502920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087368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40690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1C2E"/>
                </a:solidFill>
                <a:latin typeface="Calibri"/>
              </a:rPr>
              <a:t>Heuristic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75488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D4F5F"/>
                </a:solidFill>
                <a:latin typeface="Calibri"/>
              </a:rPr>
              <a:t>Gentle/aggressive rules + risk penalty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51960" y="3703320"/>
            <a:ext cx="370332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480560" y="4023360"/>
            <a:ext cx="502920" cy="502920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80560" y="4087368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66360" y="40690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1C2E"/>
                </a:solidFill>
                <a:latin typeface="Calibri"/>
              </a:rPr>
              <a:t>Blend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26280" y="475488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D4F5F"/>
                </a:solidFill>
                <a:latin typeface="Calibri"/>
              </a:rPr>
              <a:t>Drift-weighted mix of ML and physics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38160" y="3703320"/>
            <a:ext cx="370332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366760" y="4023360"/>
            <a:ext cx="502920" cy="502920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66760" y="4087368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52560" y="40690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1C2E"/>
                </a:solidFill>
                <a:latin typeface="Calibri"/>
              </a:rPr>
              <a:t>Report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0" y="475488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D4F5F"/>
                </a:solidFill>
                <a:latin typeface="Calibri"/>
              </a:rPr>
              <a:t>Score, ratio=score/5, PASS/FAIL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8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6565392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3D4F5F"/>
                </a:solidFill>
                <a:latin typeface="Calibri"/>
              </a:rPr>
              <a:t>LatticeFlow  ·  EDM Circularity Research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0" y="6565392"/>
            <a:ext cx="21945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3D4F5F"/>
                </a:solidFill>
                <a:latin typeface="Calibri"/>
              </a:rPr>
              <a:t>14  / 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LatticeFlow Website —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21792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B8C7D4"/>
                </a:solidFill>
                <a:latin typeface="Calibri"/>
              </a:rPr>
              <a:t>Interactive circularity analyzer deployed for engineers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34440"/>
            <a:ext cx="53035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 b="0">
                <a:solidFill>
                  <a:srgbClr val="1B2A3A"/>
                </a:solidFill>
                <a:latin typeface="Calibri"/>
              </a:rPr>
              <a:t>▸  Enter EDM parameters: I, T, duty</a:t>
            </a: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1B2A3A"/>
                </a:solidFill>
                <a:latin typeface="Calibri"/>
              </a:rPr>
              <a:t>▸  Set tool / pore / working area geometry</a:t>
            </a: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1B2A3A"/>
                </a:solidFill>
                <a:latin typeface="Calibri"/>
              </a:rPr>
              <a:t>▸  Choose landing position (x, y)</a:t>
            </a: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1B2A3A"/>
                </a:solidFill>
                <a:latin typeface="Calibri"/>
              </a:rPr>
              <a:t>▸  Get circularity score, ratio, PASS/FAIL</a:t>
            </a: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1B2A3A"/>
                </a:solidFill>
                <a:latin typeface="Calibri"/>
              </a:rPr>
              <a:t>▸  Run full-grid heatmap scans</a:t>
            </a: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1B2A3A"/>
                </a:solidFill>
                <a:latin typeface="Calibri"/>
              </a:rPr>
              <a:t>▸  AI recommends best landing position</a:t>
            </a: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1B2A3A"/>
                </a:solidFill>
                <a:latin typeface="Calibri"/>
              </a:rPr>
              <a:t>▸  Auto engineering report + chat assistant</a:t>
            </a: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1B2A3A"/>
                </a:solidFill>
                <a:latin typeface="Calibri"/>
              </a:rPr>
              <a:t>▸  Supports additional tool shapes</a:t>
            </a:r>
          </a:p>
        </p:txBody>
      </p:sp>
      <p:pic>
        <p:nvPicPr>
          <p:cNvPr id="7" name="Picture 6" descr="Grid Scan For Circula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234440"/>
            <a:ext cx="5852160" cy="444372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8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65392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3D4F5F"/>
                </a:solidFill>
                <a:latin typeface="Calibri"/>
              </a:rPr>
              <a:t>LatticeFlow  ·  EDM Circularity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565392"/>
            <a:ext cx="21945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3D4F5F"/>
                </a:solidFill>
                <a:latin typeface="Calibri"/>
              </a:rPr>
              <a:t>15  / 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Website — Grid Scan &amp; AI Best Position</a:t>
            </a:r>
          </a:p>
        </p:txBody>
      </p:sp>
      <p:pic>
        <p:nvPicPr>
          <p:cNvPr id="5" name="Picture 4" descr="Grid Scan Analyz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097280"/>
            <a:ext cx="5806440" cy="4243696"/>
          </a:xfrm>
          <a:prstGeom prst="rect">
            <a:avLst/>
          </a:prstGeom>
        </p:spPr>
      </p:pic>
      <p:pic>
        <p:nvPicPr>
          <p:cNvPr id="6" name="Picture 5" descr="Grid Scan For Best Recoomended Position By A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097280"/>
            <a:ext cx="5669280" cy="370731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8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65392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3D4F5F"/>
                </a:solidFill>
                <a:latin typeface="Calibri"/>
              </a:rPr>
              <a:t>LatticeFlow  ·  EDM Circularity 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565392"/>
            <a:ext cx="21945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3D4F5F"/>
                </a:solidFill>
                <a:latin typeface="Calibri"/>
              </a:rPr>
              <a:t>16  / 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Website — PASS / FAIL Circularity Detection</a:t>
            </a:r>
          </a:p>
        </p:txBody>
      </p:sp>
      <p:pic>
        <p:nvPicPr>
          <p:cNvPr id="5" name="Picture 4" descr="Pass Circularity With Image 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097280"/>
            <a:ext cx="5806440" cy="4029225"/>
          </a:xfrm>
          <a:prstGeom prst="rect">
            <a:avLst/>
          </a:prstGeom>
        </p:spPr>
      </p:pic>
      <p:pic>
        <p:nvPicPr>
          <p:cNvPr id="6" name="Picture 5" descr="Fail Circularity With Image Posi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097280"/>
            <a:ext cx="5669280" cy="3706525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65760" y="5806440"/>
            <a:ext cx="11430000" cy="594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7A3D"/>
                </a:solidFill>
                <a:latin typeface="Calibri"/>
              </a:rPr>
              <a:t>PASS gates: circularity ≥ 3.5/5  ·  ratio ≥ 0.70  ·  supporting intact  ·  geometry risk ≤ 0.55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8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565392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3D4F5F"/>
                </a:solidFill>
                <a:latin typeface="Calibri"/>
              </a:rPr>
              <a:t>LatticeFlow  ·  EDM Circularity Research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65392"/>
            <a:ext cx="21945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3D4F5F"/>
                </a:solidFill>
                <a:latin typeface="Calibri"/>
              </a:rPr>
              <a:t>17  / 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Website — Report, AI Assistant &amp; Shape Analysis</a:t>
            </a:r>
          </a:p>
        </p:txBody>
      </p:sp>
      <p:pic>
        <p:nvPicPr>
          <p:cNvPr id="5" name="Picture 4" descr="Detailed Engineering 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97280"/>
            <a:ext cx="3840480" cy="8138766"/>
          </a:xfrm>
          <a:prstGeom prst="rect">
            <a:avLst/>
          </a:prstGeom>
        </p:spPr>
      </p:pic>
      <p:pic>
        <p:nvPicPr>
          <p:cNvPr id="6" name="Picture 5" descr="Ai Engineering Assista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0520" y="1097280"/>
            <a:ext cx="3840480" cy="3912818"/>
          </a:xfrm>
          <a:prstGeom prst="rect">
            <a:avLst/>
          </a:prstGeom>
        </p:spPr>
      </p:pic>
      <p:pic>
        <p:nvPicPr>
          <p:cNvPr id="7" name="Picture 6" descr="Analyze Other Shapes 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8160" y="1097280"/>
            <a:ext cx="3794760" cy="2764196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8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65392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3D4F5F"/>
                </a:solidFill>
                <a:latin typeface="Calibri"/>
              </a:rPr>
              <a:t>LatticeFlow  ·  EDM Circularity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565392"/>
            <a:ext cx="21945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3D4F5F"/>
                </a:solidFill>
                <a:latin typeface="Calibri"/>
              </a:rPr>
              <a:t>18  / 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Final Recommended Parameters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21792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B8C7D4"/>
                </a:solidFill>
                <a:latin typeface="Calibri"/>
              </a:rPr>
              <a:t>SEM-informed answers by landing situation</a:t>
            </a:r>
          </a:p>
        </p:txBody>
      </p:sp>
      <p:pic>
        <p:nvPicPr>
          <p:cNvPr id="6" name="Picture 5" descr="fig_final_recommend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400800" cy="283528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858000" y="1234440"/>
            <a:ext cx="4937760" cy="4846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0" y="1234440"/>
            <a:ext cx="4937760" cy="109728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86600" y="15087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F1C2E"/>
                </a:solidFill>
                <a:latin typeface="Calibri"/>
              </a:rPr>
              <a:t>Recommended settings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0" y="201168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 b="0">
                <a:solidFill>
                  <a:srgbClr val="1B2A3A"/>
                </a:solidFill>
                <a:latin typeface="Calibri"/>
              </a:rPr>
              <a:t>▸  Unknown position: 4 A, 150 µs, 80%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1B2A3A"/>
                </a:solidFill>
                <a:latin typeface="Calibri"/>
              </a:rPr>
              <a:t>▸  Pore center: 4 A, 150 µs, 80%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1B2A3A"/>
                </a:solidFill>
                <a:latin typeface="Calibri"/>
              </a:rPr>
              <a:t>▸  Mid pore: 4 A, 148 µs, 79%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1B2A3A"/>
                </a:solidFill>
                <a:latin typeface="Calibri"/>
              </a:rPr>
              <a:t>▸  Near strut: 3.5 A, 150 µs, 78%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1B2A3A"/>
                </a:solidFill>
                <a:latin typeface="Calibri"/>
              </a:rPr>
              <a:t>▸  Near node: 3.5 A, 145 µs, 76%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1B2A3A"/>
                </a:solidFill>
                <a:latin typeface="Calibri"/>
              </a:rPr>
              <a:t>▸  Reject: 6 A, 50 µs, 64% (deviation-only)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1B2A3A"/>
                </a:solidFill>
                <a:latin typeface="Calibri"/>
              </a:rPr>
              <a:t>▸  Pattern: low I + long T + high D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1B2A3A"/>
                </a:solidFill>
                <a:latin typeface="Calibri"/>
              </a:rPr>
              <a:t>▸  Fine servo feed + stable flush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8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565392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3D4F5F"/>
                </a:solidFill>
                <a:latin typeface="Calibri"/>
              </a:rPr>
              <a:t>LatticeFlow  ·  EDM Circularity Research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65392"/>
            <a:ext cx="21945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3D4F5F"/>
                </a:solidFill>
                <a:latin typeface="Calibri"/>
              </a:rPr>
              <a:t>19  / 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C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97A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Conclusion &amp; Thank You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188720"/>
            <a:ext cx="10881360" cy="640080"/>
          </a:xfrm>
          <a:prstGeom prst="roundRect">
            <a:avLst>
              <a:gd name="adj" fmla="val 8000"/>
            </a:avLst>
          </a:prstGeom>
          <a:solidFill>
            <a:srgbClr val="1428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5331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SEM first — supporting-ring circularity beats hole-deviation metrics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65960"/>
            <a:ext cx="10881360" cy="640080"/>
          </a:xfrm>
          <a:prstGeom prst="roundRect">
            <a:avLst>
              <a:gd name="adj" fmla="val 8000"/>
            </a:avLst>
          </a:prstGeom>
          <a:solidFill>
            <a:srgbClr val="1428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3055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Sparse → dense — GP synthetics + geometry-risk spatial label replay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743200"/>
            <a:ext cx="10881360" cy="640080"/>
          </a:xfrm>
          <a:prstGeom prst="roundRect">
            <a:avLst>
              <a:gd name="adj" fmla="val 8000"/>
            </a:avLst>
          </a:prstGeom>
          <a:solidFill>
            <a:srgbClr val="1428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907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Any position — 20-D features + GBR + physics blend → ratio at any (x,y)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520439"/>
            <a:ext cx="10881360" cy="640080"/>
          </a:xfrm>
          <a:prstGeom prst="roundRect">
            <a:avLst>
              <a:gd name="adj" fmla="val 8000"/>
            </a:avLst>
          </a:prstGeom>
          <a:solidFill>
            <a:srgbClr val="1428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685031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LatticeFlow — heatmaps, PASS/FAIL, reports, and AI guidance in one tool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5720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E7C86"/>
                </a:solidFill>
                <a:latin typeface="Calibri"/>
              </a:rPr>
              <a:t>Questions &amp; Discussion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21208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AA0B2"/>
                </a:solidFill>
                <a:latin typeface="Calibri"/>
              </a:rPr>
              <a:t>PDF research paper + presentation decks are in the project repository
Lattice Circularity Analyzer  ·  LatticeFlow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