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RESEARCH  ·  MACHINE LEARNING  ·  MICRO-EDM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Predicting Supporting-Boundary Circularity
at Any Tool Position in Lattice EDM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8C7D4"/>
                </a:solidFill>
                <a:latin typeface="Calibri"/>
              </a:rPr>
              <a:t>Physics-informed Gradient Boosting  ·  Gaussian Process data expansion  ·  SEM-validated outcomes
Interactive LatticeFlow analyzer for spatial circularity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Lattice Circularity Analyzer Project  ·  Premium Presentation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What this presentation covers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361188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Problem &amp;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Oversized tool on a fine lattice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371600"/>
            <a:ext cx="361188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SEM Evidence &amp; Graphs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16 runs, paradox, parameter effects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71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71600"/>
            <a:ext cx="361188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691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Ideation &amp; ML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06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How prediction becomes possible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57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657600"/>
            <a:ext cx="3611880" cy="109728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34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Train · Validate · Infer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Features, models, any-position 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657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657600"/>
            <a:ext cx="3611880" cy="109728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434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LatticeFlow Website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Live analyzer UI walkthrough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365760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657600"/>
            <a:ext cx="3611880" cy="109728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434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Final Answers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892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F5F"/>
                </a:solidFill>
                <a:latin typeface="Calibri"/>
              </a:rPr>
              <a:t>Recommended EDM settings by zone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2  / 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The Engineering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900 µm tool vs 235.6 µm pore — ratio 3.82×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3949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09728" cy="4846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What must succeed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Unit cell side = 500 µm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Pore / node diameter ≈ 235.6 µm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Tool tip diameter = 900 µm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Tool overlaps pore + nodes + struts at once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Supporting ring (black) must stay continuous &amp; circular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Nodes (red) may be destroyed — acceptable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Need circularity ratio for ANY landing (x, y)</a:t>
            </a:r>
          </a:p>
        </p:txBody>
      </p:sp>
      <p:pic>
        <p:nvPicPr>
          <p:cNvPr id="10" name="Picture 9" descr="fig_geometry_id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25880"/>
            <a:ext cx="5760720" cy="573354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3  / 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SEM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Only visual truth of supporting-boundary circularity</a:t>
            </a:r>
          </a:p>
        </p:txBody>
      </p:sp>
      <p:pic>
        <p:nvPicPr>
          <p:cNvPr id="6" name="Picture 5" descr="ACTUAL IMAGE OF THE 16 DATASETS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589520" cy="1058926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38160" y="1280160"/>
            <a:ext cx="3657600" cy="109728"/>
          </a:xfrm>
          <a:prstGeom prst="rect">
            <a:avLst/>
          </a:prstGeom>
          <a:solidFill>
            <a:srgbClr val="1B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Key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05740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16 lab EDM trials imaged by SEM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ONLY Run 4 PASS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4 A · 150 µs · 80%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15 / 16 fail the ring test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SEM &gt; hole-deviation metrics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ML must maximize SEM circularity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4  / 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The Central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Best numerical deviation ≠ best supporting ring</a:t>
            </a:r>
          </a:p>
        </p:txBody>
      </p:sp>
      <p:pic>
        <p:nvPicPr>
          <p:cNvPr id="6" name="Picture 5" descr="fig_deviation_vs_circul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5852160" cy="3188928"/>
          </a:xfrm>
          <a:prstGeom prst="rect">
            <a:avLst/>
          </a:prstGeom>
        </p:spPr>
      </p:pic>
      <p:pic>
        <p:nvPicPr>
          <p:cNvPr id="7" name="Picture 6" descr="fig_dev_score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240417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5806440"/>
            <a:ext cx="114300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A0C"/>
                </a:solidFill>
                <a:latin typeface="Calibri"/>
              </a:rPr>
              <a:t>Run 5 (6 A, 50 µs, 64%) wins deviation ranking but FAILS SEM   ·   Run 4 (4 A, 150 µs, 80%) is near-worst by deviation yet is the ONLY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5  / 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Experimental Graphs — Top/Bottom Deviation &amp; Asymmetry</a:t>
            </a:r>
          </a:p>
        </p:txBody>
      </p:sp>
      <p:pic>
        <p:nvPicPr>
          <p:cNvPr id="5" name="Picture 4" descr="fig_top_bottom_dev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852160" cy="2614043"/>
          </a:xfrm>
          <a:prstGeom prst="rect">
            <a:avLst/>
          </a:prstGeom>
        </p:spPr>
      </p:pic>
      <p:pic>
        <p:nvPicPr>
          <p:cNvPr id="6" name="Picture 5" descr="fig_asym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43000"/>
            <a:ext cx="5623560" cy="236537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6  / 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Parameter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How current, pulse-on, and duty shape deviation</a:t>
            </a:r>
          </a:p>
        </p:txBody>
      </p:sp>
      <p:pic>
        <p:nvPicPr>
          <p:cNvPr id="6" name="Picture 5" descr="fig_param_effects_d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852160" cy="2468102"/>
          </a:xfrm>
          <a:prstGeom prst="rect">
            <a:avLst/>
          </a:prstGeom>
        </p:spPr>
      </p:pic>
      <p:pic>
        <p:nvPicPr>
          <p:cNvPr id="7" name="Picture 6" descr="fig_duty_effects_d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43000"/>
            <a:ext cx="5623560" cy="27787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7  / 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SEM Circularity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Pass/fail distribution across the DOE</a:t>
            </a:r>
          </a:p>
        </p:txBody>
      </p:sp>
      <p:pic>
        <p:nvPicPr>
          <p:cNvPr id="6" name="Picture 5" descr="fig_circularity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943600" cy="2498271"/>
          </a:xfrm>
          <a:prstGeom prst="rect">
            <a:avLst/>
          </a:prstGeom>
        </p:spPr>
      </p:pic>
      <p:pic>
        <p:nvPicPr>
          <p:cNvPr id="7" name="Picture 6" descr="fig_pass_fail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34440"/>
            <a:ext cx="5212080" cy="50601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8  / 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Energy, Heatmap &amp; Process Responses</a:t>
            </a:r>
          </a:p>
        </p:txBody>
      </p:sp>
      <p:pic>
        <p:nvPicPr>
          <p:cNvPr id="5" name="Picture 4" descr="fig_energy_vs_circul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931920" cy="1963004"/>
          </a:xfrm>
          <a:prstGeom prst="rect">
            <a:avLst/>
          </a:prstGeom>
        </p:spPr>
      </p:pic>
      <p:pic>
        <p:nvPicPr>
          <p:cNvPr id="6" name="Picture 5" descr="fig_current_puls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97280"/>
            <a:ext cx="3840480" cy="2031863"/>
          </a:xfrm>
          <a:prstGeom prst="rect">
            <a:avLst/>
          </a:prstGeom>
        </p:spPr>
      </p:pic>
      <p:pic>
        <p:nvPicPr>
          <p:cNvPr id="7" name="Picture 6" descr="fig_mrr_tw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097280"/>
            <a:ext cx="3840480" cy="153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9  / 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Ideation — Working Mind of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Circularity = process intensity × local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09728" cy="47548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Idea 1 — SEM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33375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Train on supporting-ring circularity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Do NOT minimize Hole_Dev alone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Run 5 is the wrong optimum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Run 4 is the reference success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109728" cy="475488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Idea 2 — Geometry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83080"/>
            <a:ext cx="33375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Tool footprint vs struts/nodes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Distances, overlaps, intersection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Geometry risk index ∈ [0,1]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Same recipe, different (x,y) outcome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80160"/>
            <a:ext cx="36576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109728" cy="4754880"/>
          </a:xfrm>
          <a:prstGeom prst="rect">
            <a:avLst/>
          </a:prstGeom>
          <a:solidFill>
            <a:srgbClr val="1B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Idea 3 — Sparse-data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1783080"/>
            <a:ext cx="33375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GP posterior → 1,100 EDM synthetics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16 × landing grid → ~400 rows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Risk-modulated SEM label replay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Physics blend at inference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10  / 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End-to-End Prediction Pipeline</a:t>
            </a:r>
          </a:p>
        </p:txBody>
      </p:sp>
      <p:pic>
        <p:nvPicPr>
          <p:cNvPr id="5" name="Picture 4" descr="fig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38560" cy="67450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11  / 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From 16 Experiments to Trainable Data</a:t>
            </a:r>
          </a:p>
        </p:txBody>
      </p:sp>
      <p:pic>
        <p:nvPicPr>
          <p:cNvPr id="5" name="Picture 4" descr="fig_data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155680" cy="46521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29768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▸  Augmentation A: Gaussian Process posterior sampling densifies (I, T, D) space → 1,100 synthetics (tagged GP_posterior; not new lab trials)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▸  Augmentation B: each SEM label replayed on ~25 landings → c_train = clip(c_SEM − 2.5·geometry_risk + edm_bonus, 1, 5)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B2A3A"/>
                </a:solidFill>
                <a:latin typeface="Calibri"/>
              </a:rPr>
              <a:t>▸  Result: models learn that gentle recipes degrade when the oversized tool sits on dense strut intersections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12  / 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Machine Learning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Features · models · train · validate · blend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379476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09728" cy="49377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3990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20-D Feature Vector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737360"/>
            <a:ext cx="34747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EDM (7): I, T, D, Energy, pulse-off, I·D, T/D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Geometry (13): x/W, y/W, distances,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nodes/pores in tool, strut length,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overlaps, geometry risk, ratio, W, tool Ø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Targets: score 1–5 + support 0/1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Ratio reported as score /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234440"/>
            <a:ext cx="379476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109728" cy="493776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3990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Algorithms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37360"/>
            <a:ext cx="34747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GBR circularity: 120 trees, depth 4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GBR supporting: 80 trees, depth 3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GP Matérn 5/2 + WhiteKernel on 16 SEM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Ridge poly LOOCV → MAE ≈ 1.02 / 5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Shallow trees limit small-n overfitting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GP ranks μ + 0.15·σ candidates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234440"/>
            <a:ext cx="365760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234440"/>
            <a:ext cx="109728" cy="4937760"/>
          </a:xfrm>
          <a:prstGeom prst="rect">
            <a:avLst/>
          </a:prstGeom>
          <a:solidFill>
            <a:srgbClr val="1B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39903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Inference Blend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1737360"/>
            <a:ext cx="33375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c = (1−w)·c_ML + w·c_H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w rises if tool/pore drifts from lab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Heuristic encodes gentle vs blast rules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PASS: c≥3.5, support OK, risk≤0.55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Consistency tests replace huge holdout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D4F5F"/>
                </a:solidFill>
                <a:latin typeface="Calibri"/>
              </a:rPr>
              <a:t>▸  SEM remains ultimate acceptance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13  / 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Predict Circularity Ratio for Any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Runtime path for query (I, T, D, x, 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2588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64592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099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Geometry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analyze_position(x,y) → risk &amp; overlaps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2588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560" y="164592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7099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Feature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Concatenate 7 EDM + 13 geometry = 20-D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2588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64592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7099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ML 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GBR score + supporting probability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03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402336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0873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Heuristic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Gentle/aggressive rules + risk penalty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703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60" y="402336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0873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Blend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754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Drift-weighted mix of ML and physics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70332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66760" y="4023360"/>
            <a:ext cx="502920" cy="5029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40873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754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Score, ratio=score/5, PASS/FAIL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14  / 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LatticeFlow Website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Interactive circularity analyzer deployed for 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Enter EDM parameters: I, T, duty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Set tool / pore / working area geometry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Choose landing position (x, y)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Get circularity score, ratio, PASS/FAIL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Run full-grid heatmap scans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AI recommends best landing position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Auto engineering report + chat assistant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▸  Supports additional tool shapes</a:t>
            </a:r>
          </a:p>
        </p:txBody>
      </p:sp>
      <p:pic>
        <p:nvPicPr>
          <p:cNvPr id="7" name="Picture 6" descr="Grid Scan For Circul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34440"/>
            <a:ext cx="5852160" cy="444372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15  / 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Website — Grid Scan &amp; AI Best Position</a:t>
            </a:r>
          </a:p>
        </p:txBody>
      </p:sp>
      <p:pic>
        <p:nvPicPr>
          <p:cNvPr id="5" name="Picture 4" descr="Grid Scan Analy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0"/>
            <a:ext cx="5806440" cy="4243696"/>
          </a:xfrm>
          <a:prstGeom prst="rect">
            <a:avLst/>
          </a:prstGeom>
        </p:spPr>
      </p:pic>
      <p:pic>
        <p:nvPicPr>
          <p:cNvPr id="6" name="Picture 5" descr="Grid Scan For Best Recoomended Position By 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97280"/>
            <a:ext cx="5669280" cy="37073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16  / 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Website — PASS / FAIL Circularity Detection</a:t>
            </a:r>
          </a:p>
        </p:txBody>
      </p:sp>
      <p:pic>
        <p:nvPicPr>
          <p:cNvPr id="5" name="Picture 4" descr="Pass Circularity With Image 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0"/>
            <a:ext cx="5806440" cy="4029225"/>
          </a:xfrm>
          <a:prstGeom prst="rect">
            <a:avLst/>
          </a:prstGeom>
        </p:spPr>
      </p:pic>
      <p:pic>
        <p:nvPicPr>
          <p:cNvPr id="6" name="Picture 5" descr="Fail Circularity With Image 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97280"/>
            <a:ext cx="5669280" cy="37065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5760" y="5806440"/>
            <a:ext cx="114300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7A3D"/>
                </a:solidFill>
                <a:latin typeface="Calibri"/>
              </a:rPr>
              <a:t>PASS gates: circularity ≥ 3.5/5  ·  ratio ≥ 0.70  ·  supporting intact  ·  geometry risk ≤ 0.55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17  / 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Website — Report, AI Assistant &amp; Shape Analysis</a:t>
            </a:r>
          </a:p>
        </p:txBody>
      </p:sp>
      <p:pic>
        <p:nvPicPr>
          <p:cNvPr id="5" name="Picture 4" descr="Detailed Engineering 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840480" cy="8138766"/>
          </a:xfrm>
          <a:prstGeom prst="rect">
            <a:avLst/>
          </a:prstGeom>
        </p:spPr>
      </p:pic>
      <p:pic>
        <p:nvPicPr>
          <p:cNvPr id="6" name="Picture 5" descr="Ai Engineering Assist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97280"/>
            <a:ext cx="3840480" cy="3912818"/>
          </a:xfrm>
          <a:prstGeom prst="rect">
            <a:avLst/>
          </a:prstGeom>
        </p:spPr>
      </p:pic>
      <p:pic>
        <p:nvPicPr>
          <p:cNvPr id="7" name="Picture 6" descr="Analyze Other Shapes 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097280"/>
            <a:ext cx="3794760" cy="27641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18  / 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Final Recommended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7D4"/>
                </a:solidFill>
                <a:latin typeface="Calibri"/>
              </a:rPr>
              <a:t>SEM-informed answers by landing situation</a:t>
            </a:r>
          </a:p>
        </p:txBody>
      </p:sp>
      <p:pic>
        <p:nvPicPr>
          <p:cNvPr id="6" name="Picture 5" descr="fig_final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8352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234440"/>
            <a:ext cx="49377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234440"/>
            <a:ext cx="4937760" cy="109728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Recommended settings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Unknown position: 4 A, 150 µs, 80%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Pore center: 4 A, 150 µs, 80%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Mid pore: 4 A, 148 µs, 79%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Near strut: 3.5 A, 150 µs, 78%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Near node: 3.5 A, 145 µs, 76%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Reject: 6 A, 50 µs, 64% (deviation-only)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Pattern: low I + long T + high D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B2A3A"/>
                </a:solidFill>
                <a:latin typeface="Calibri"/>
              </a:rPr>
              <a:t>▸  Fine servo feed + stable flush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19  / 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Conclusion &amp;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SEM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Supporting-ring circularity — not hole deviation — is the success metric.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28016" cy="109728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Sparse → dense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71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16 runs expand via GP synthetics + geometry-risk spatial label replay.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03320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703320"/>
            <a:ext cx="128016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86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Any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20-D EDM+geometry features + GBR + physics blend → ratio at any (x,y).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37760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937760"/>
            <a:ext cx="128016" cy="109728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LatticeFlow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4F5F"/>
                </a:solidFill>
                <a:latin typeface="Calibri"/>
              </a:rPr>
              <a:t>Website turns the science into grid heatmaps, PASS/FAIL, reports, and guidance.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3D4F5F"/>
                </a:solidFill>
                <a:latin typeface="Calibri"/>
              </a:rPr>
              <a:t>LatticeFlow  ·  EDM Circularity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D4F5F"/>
                </a:solidFill>
                <a:latin typeface="Calibri"/>
              </a:rPr>
              <a:t>20  / 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7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8C7D4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A0B2"/>
                </a:solidFill>
                <a:latin typeface="Calibri"/>
              </a:rPr>
              <a:t>PDF research paper + this deck available in the project repository
Lattice Circularity Analyzer  ·  LatticeFlow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