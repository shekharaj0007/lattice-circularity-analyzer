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Physics-Informed Machine Learning for Predicting
Supporting-Boundary Circularity at Any Tool Position
in Micro-EDM of Metallic Lattices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0E4EF"/>
                </a:solidFill>
                <a:latin typeface="Calibri"/>
              </a:rPr>
              <a:t>Research Presentation  ·  SEM Validation  ·  Gradient Boosting  ·  Gaussian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Lattice Circularity Analyzer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Problem: oversized EDM tool on a fine metallic lattice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Experimental evidence from 16 SEM-labeled runs (graphs)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Ideation: circularity = process intensity × local geometry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How 16 experiments become a trainable dataset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Machine learning in detail — features, models, train/validate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Predicting circularity ratio for any (I, T, D, x, y)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Calibri"/>
              </a:rPr>
              <a:t>•  Final recommended parameters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Unit cell = 500 µm; pore/node Ø ≈ 235.6 µm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EDM tool tip = 900 µm → tool/pore ratio = 3.82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Tool always hits pores + nodes + supporting struts together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Goal: continuous nearly circular supporting ring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Nodes may be destroyed — that is acceptable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Hole-deviation numbers alone mislead (Run 5 paradox)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Need: predict circularity ratio at any landing (x, y)</a:t>
            </a:r>
          </a:p>
        </p:txBody>
      </p:sp>
      <p:pic>
        <p:nvPicPr>
          <p:cNvPr id="5" name="Picture 4" descr="fig_geometry_id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212080" cy="5187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SEM Ground Truth — 16 Experiments</a:t>
            </a:r>
          </a:p>
        </p:txBody>
      </p:sp>
      <p:pic>
        <p:nvPicPr>
          <p:cNvPr id="4" name="Picture 3" descr="ACTUAL IMAGE OF THE 16 DATASET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315200" cy="10206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Only Run 4 PASS: 4 A, 150 µs, 80%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15 / 16 runs destroy or irregularize the ring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SEM is the true success metric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Deviation ranking ≠ SEM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Central Paradox (Graphs)</a:t>
            </a:r>
          </a:p>
        </p:txBody>
      </p:sp>
      <p:pic>
        <p:nvPicPr>
          <p:cNvPr id="4" name="Picture 3" descr="fig_deviation_vs_circ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3188928"/>
          </a:xfrm>
          <a:prstGeom prst="rect">
            <a:avLst/>
          </a:prstGeom>
        </p:spPr>
      </p:pic>
      <p:pic>
        <p:nvPicPr>
          <p:cNvPr id="5" name="Picture 4" descr="fig_dev_score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486400" cy="2364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Run 5: best deviation score → FAIL SEM   |   Run 4: near-worst deviation → ONLY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Experimental Graphs — Deviation &amp; Asymmetry</a:t>
            </a:r>
          </a:p>
        </p:txBody>
      </p:sp>
      <p:pic>
        <p:nvPicPr>
          <p:cNvPr id="4" name="Picture 3" descr="fig_top_bottom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2614043"/>
          </a:xfrm>
          <a:prstGeom prst="rect">
            <a:avLst/>
          </a:prstGeom>
        </p:spPr>
      </p:pic>
      <p:pic>
        <p:nvPicPr>
          <p:cNvPr id="5" name="Picture 4" descr="fig_asym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486400" cy="2307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Parameter Effects on Deviation</a:t>
            </a:r>
          </a:p>
        </p:txBody>
      </p:sp>
      <p:pic>
        <p:nvPicPr>
          <p:cNvPr id="4" name="Picture 3" descr="fig_param_effects_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2468102"/>
          </a:xfrm>
          <a:prstGeom prst="rect">
            <a:avLst/>
          </a:prstGeom>
        </p:spPr>
      </p:pic>
      <p:pic>
        <p:nvPicPr>
          <p:cNvPr id="5" name="Picture 4" descr="fig_duty_effects_d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486400" cy="2710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SEM Circularity Outcomes</a:t>
            </a:r>
          </a:p>
        </p:txBody>
      </p:sp>
      <p:pic>
        <p:nvPicPr>
          <p:cNvPr id="4" name="Picture 3" descr="fig_circularity_by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943600" cy="2498271"/>
          </a:xfrm>
          <a:prstGeom prst="rect">
            <a:avLst/>
          </a:prstGeom>
        </p:spPr>
      </p:pic>
      <p:pic>
        <p:nvPicPr>
          <p:cNvPr id="5" name="Picture 4" descr="fig_pass_fail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97280"/>
            <a:ext cx="5029200" cy="4882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Energy &amp; Current × Pulse-on Patterns</a:t>
            </a:r>
          </a:p>
        </p:txBody>
      </p:sp>
      <p:pic>
        <p:nvPicPr>
          <p:cNvPr id="4" name="Picture 3" descr="fig_energy_vs_circ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2921680"/>
          </a:xfrm>
          <a:prstGeom prst="rect">
            <a:avLst/>
          </a:prstGeom>
        </p:spPr>
      </p:pic>
      <p:pic>
        <p:nvPicPr>
          <p:cNvPr id="5" name="Picture 4" descr="fig_current_puls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486400" cy="2902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Ideation — The Working Mind of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C3E50"/>
                </a:solidFill>
                <a:latin typeface="Calibri"/>
              </a:rPr>
              <a:t>•  Idea 1: Train on SEM boundary truth — not hole-deviation proxies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C3E50"/>
                </a:solidFill>
                <a:latin typeface="Calibri"/>
              </a:rPr>
              <a:t>•  Idea 2: Geometry is a first-class feature (strut/node overlap under the tool)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C3E50"/>
                </a:solidFill>
                <a:latin typeface="Calibri"/>
              </a:rPr>
              <a:t>•  Idea 3: Expand sparse lab truth with physics-structured data (GP + spatial replay)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C3E50"/>
                </a:solidFill>
                <a:latin typeface="Calibri"/>
              </a:rPr>
              <a:t>•  Circularity = joint effect of EDM intensity AND local lattice geometry at (x, y)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C3E50"/>
                </a:solidFill>
                <a:latin typeface="Calibri"/>
              </a:rPr>
              <a:t>•  Same recipe can PASS at pore center and FAIL near a strut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Prediction Pipeline</a:t>
            </a:r>
          </a:p>
        </p:txBody>
      </p:sp>
      <p:pic>
        <p:nvPicPr>
          <p:cNvPr id="4" name="Picture 3" descr="fig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527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From 16 Experiments → Trainable Data</a:t>
            </a:r>
          </a:p>
        </p:txBody>
      </p:sp>
      <p:pic>
        <p:nvPicPr>
          <p:cNvPr id="4" name="Picture 3" descr="fig_data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155680" cy="4652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Augmentation A: Gaussian Process posterior → 1,100 synthetic EDM points (not new lab trials)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Augmentation B: 16 SEM labels × ~25 landings → ~400 position-aware rows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Label rule: c_train = clip(c_SEM − 2.5·geometry_risk + edm_bonus, 1,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ML Features — 20-D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EDM block (7): I, T, D, Energy E=I·T·D/100, pulse-off proxy, I·D, T/D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Geometry block (13): x/W, y/W, dist to strut/node, nodes/pores in tool, strut intersection, overlaps, geometry risk, tool/pore ratio, working area, tool 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Why: trees can split on intensity AND local damage exposure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Same (I,T,D) with different (x,y) → different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Targets: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A) Circularity score c ∈ [1,5] from SEM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B) Supporting intact s ∈ {0,1}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Reported ratio = c / 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PASS if c ≥ 3.5, support OK, risk ≤ 0.55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NOT trained to minimize Hole_Dev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Models, Training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Gradient Boosting (circularity): 120 trees, max depth 4 → score 1–5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Gradient Boosting (supporting): 80 trees, max depth 3 → threshold 0.5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Gaussian Process (Matérn 5/2 + WhiteKernel) on 16 SEM labels to search robust (I,T,D)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Polynomial Ridge LOOCV on 16 runs → MAE ≈ 1.02 / 5 (small-n honesty check)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Train: load 16 runs → expand on landing grid → fit both GBRs → save joblib bundle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Validate: LOOCV + consistency tests (gentle recipes peak at pore centers; I≥8 stays FAIL)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Inference blend: c = (1−w)·c_ML + w·c_H, where w rises if tool/pore drifts from lab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Predict Circularity Ratio for Any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1. Geometry pass at (x, y) → risk, distances, overlaps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2. Build 20-D feature row (EDM + geometry)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3. ML forward: circularity GBR + supporting GBR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4. Heuristic forward: gentle/aggressive rules + geometry risk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5. Blend with drift weight 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6. Report score, ratio = score/5, supporting OK, PASS/FAIL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Repeat on a grid → spatial circularity field for fixed EDM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Final Recommended Parameters</a:t>
            </a:r>
          </a:p>
        </p:txBody>
      </p:sp>
      <p:pic>
        <p:nvPicPr>
          <p:cNvPr id="4" name="Picture 3" descr="fig_final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400800" cy="283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18872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Unknown position (robust): 4 A, 150 µs, 80%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Pore center: 4 A, 150 µs, 80%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Mid pore: 4 A, 148 µs, 79%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Near strut: 3.5 A, 150 µs, 78%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Near node: 3.5 A, 145 µs, 76%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Reject deviation-only: 6 A, 50 µs, 64%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Pattern: low I + long T + high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SEM — not hole deviation — defines success for oversized-tool lattice EDM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Winning pattern: low current + long pulse-on + high duty (Run 4)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16 labels become useful via GP synthesis + geometry-risk spatial replay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20-D EDM+geometry features + Gradient Boosting + physics blend enable any-position prediction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Circularity ratio = score/5 is computable for any (I, T, D, x, 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Next: more SEM trials in the 3.5–4.5 A / 140–150 µs / 76–80% island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6572"/>
                </a:solidFill>
                <a:latin typeface="Calibri"/>
              </a:rPr>
              <a:t>Lattice EDM Circularity — Research Presentation   | 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D0E4E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